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Tex Gyre Bonum Bold" charset="1" panose="00000800000000000000"/>
      <p:regular r:id="rId26"/>
    </p:embeddedFont>
    <p:embeddedFont>
      <p:font typeface="Tex Gyre Bonum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kaggle.com/datasets/rounakbanik/the-movies-dataset?select=movies_metadata.csv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idsaturn07/movie_recommendation_system_Team7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77217" y="1365558"/>
            <a:ext cx="12333566" cy="203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AAF386"/>
                </a:solidFill>
                <a:latin typeface="Tex Gyre Bonum Bold"/>
                <a:ea typeface="Tex Gyre Bonum Bold"/>
                <a:cs typeface="Tex Gyre Bonum Bold"/>
                <a:sym typeface="Tex Gyre Bonum Bold"/>
              </a:rPr>
              <a:t>CineMatch: </a:t>
            </a:r>
          </a:p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b="true" sz="5799">
                <a:solidFill>
                  <a:srgbClr val="AAF386"/>
                </a:solidFill>
                <a:latin typeface="Tex Gyre Bonum Bold"/>
                <a:ea typeface="Tex Gyre Bonum Bold"/>
                <a:cs typeface="Tex Gyre Bonum Bold"/>
                <a:sym typeface="Tex Gyre Bonum Bold"/>
              </a:rPr>
              <a:t>Movie Recommendation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39747" y="4823838"/>
            <a:ext cx="7805806" cy="260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Inchara M P        (2023BCS0129)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Jadi Hemarupini (2023BCS0126)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Deepanjali Tudu  (2023BCS0066)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Praneetha Pillai   (2023BCS0207)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8250"/>
            <a:ext cx="7566988" cy="165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3"/>
              </a:lnSpc>
              <a:spcBef>
                <a:spcPct val="0"/>
              </a:spcBef>
            </a:pPr>
            <a:r>
              <a:rPr lang="en-US" sz="7130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</a:t>
            </a:r>
            <a:r>
              <a:rPr lang="en-US" sz="7130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2669" y="3456508"/>
            <a:ext cx="8456504" cy="40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5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</a:t>
            </a:r>
            <a:r>
              <a:rPr lang="en-US" sz="32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oo many movies available (50,000+)</a:t>
            </a:r>
          </a:p>
          <a:p>
            <a:pPr algn="l" marL="712465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Users can’t easily find what to watch</a:t>
            </a:r>
          </a:p>
          <a:p>
            <a:pPr algn="l" marL="712465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Most systems recommend only popular movies</a:t>
            </a:r>
          </a:p>
          <a:p>
            <a:pPr algn="l" marL="712465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Need better and personalised recommendations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580333"/>
            <a:ext cx="8522098" cy="253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300"/>
              </a:lnSpc>
              <a:buFont typeface="Arial"/>
              <a:buChar char="•"/>
            </a:pPr>
            <a:r>
              <a:rPr lang="en-US" sz="3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Analyse movie dataset</a:t>
            </a:r>
          </a:p>
          <a:p>
            <a:pPr algn="l" marL="712470" indent="-356235" lvl="1">
              <a:lnSpc>
                <a:spcPts val="3300"/>
              </a:lnSpc>
              <a:buFont typeface="Arial"/>
              <a:buChar char="•"/>
            </a:pPr>
            <a:r>
              <a:rPr lang="en-US" sz="3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Build recommendation system using TF-IDF</a:t>
            </a:r>
          </a:p>
          <a:p>
            <a:pPr algn="l" marL="712470" indent="-356235" lvl="1">
              <a:lnSpc>
                <a:spcPts val="3300"/>
              </a:lnSpc>
              <a:buFont typeface="Arial"/>
              <a:buChar char="•"/>
            </a:pPr>
            <a:r>
              <a:rPr lang="en-US" sz="3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</a:t>
            </a:r>
            <a:r>
              <a:rPr lang="en-US" sz="3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se similarity to suggest movies</a:t>
            </a:r>
          </a:p>
          <a:p>
            <a:pPr algn="l" marL="712470" indent="-356235" lvl="1">
              <a:lnSpc>
                <a:spcPts val="3300"/>
              </a:lnSpc>
              <a:buFont typeface="Arial"/>
              <a:buChar char="•"/>
            </a:pPr>
            <a:r>
              <a:rPr lang="en-US" sz="3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Improve recommendation quality</a:t>
            </a:r>
          </a:p>
          <a:p>
            <a:pPr algn="l" marL="0" indent="0" lvl="0">
              <a:lnSpc>
                <a:spcPts val="33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385308" y="1525888"/>
            <a:ext cx="8902692" cy="86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64"/>
              </a:lnSpc>
              <a:spcBef>
                <a:spcPct val="0"/>
              </a:spcBef>
            </a:pPr>
            <a:r>
              <a:rPr lang="en-US" sz="7201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Objective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0672" y="1166375"/>
            <a:ext cx="2762131" cy="99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Dataset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8714" y="2675987"/>
            <a:ext cx="15584103" cy="398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2" indent="-410206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So</a:t>
            </a: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urce: TMDB (Kaggle)</a:t>
            </a:r>
          </a:p>
          <a:p>
            <a:pPr algn="l" marL="820412" indent="-410206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45,000+ movies</a:t>
            </a:r>
          </a:p>
          <a:p>
            <a:pPr algn="l" marL="820412" indent="-410206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Important fields: title, genres, overview</a:t>
            </a:r>
          </a:p>
          <a:p>
            <a:pPr algn="l" marL="820412" indent="-410206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</a:t>
            </a: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ata needed cleaning before use</a:t>
            </a:r>
          </a:p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link:</a:t>
            </a:r>
            <a:r>
              <a:rPr lang="en-US" sz="3799" u="sng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  <a:hlinkClick r:id="rId2" tooltip="https://www.kaggle.com/datasets/rounakbanik/the-movies-dataset?select=movies_metadata.csv"/>
              </a:rPr>
              <a:t>https://www.kaggle.com/datasets/rounakbanik/the-movies-dataset?select=movies_metadata.csv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3205" y="913337"/>
            <a:ext cx="14641589" cy="2052589"/>
          </a:xfrm>
          <a:custGeom>
            <a:avLst/>
            <a:gdLst/>
            <a:ahLst/>
            <a:cxnLst/>
            <a:rect r="r" b="b" t="t" l="l"/>
            <a:pathLst>
              <a:path h="2052589" w="14641589">
                <a:moveTo>
                  <a:pt x="0" y="0"/>
                </a:moveTo>
                <a:lnTo>
                  <a:pt x="14641590" y="0"/>
                </a:lnTo>
                <a:lnTo>
                  <a:pt x="14641590" y="2052589"/>
                </a:lnTo>
                <a:lnTo>
                  <a:pt x="0" y="2052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51" r="0" b="-595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23205" y="3213576"/>
            <a:ext cx="14641589" cy="1929924"/>
          </a:xfrm>
          <a:custGeom>
            <a:avLst/>
            <a:gdLst/>
            <a:ahLst/>
            <a:cxnLst/>
            <a:rect r="r" b="b" t="t" l="l"/>
            <a:pathLst>
              <a:path h="1929924" w="14641589">
                <a:moveTo>
                  <a:pt x="0" y="0"/>
                </a:moveTo>
                <a:lnTo>
                  <a:pt x="14641590" y="0"/>
                </a:lnTo>
                <a:lnTo>
                  <a:pt x="14641590" y="1929924"/>
                </a:lnTo>
                <a:lnTo>
                  <a:pt x="0" y="1929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51" r="0" b="-595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23205" y="5391150"/>
            <a:ext cx="14641589" cy="1790904"/>
          </a:xfrm>
          <a:custGeom>
            <a:avLst/>
            <a:gdLst/>
            <a:ahLst/>
            <a:cxnLst/>
            <a:rect r="r" b="b" t="t" l="l"/>
            <a:pathLst>
              <a:path h="1790904" w="14641589">
                <a:moveTo>
                  <a:pt x="0" y="0"/>
                </a:moveTo>
                <a:lnTo>
                  <a:pt x="14641590" y="0"/>
                </a:lnTo>
                <a:lnTo>
                  <a:pt x="14641590" y="1790904"/>
                </a:lnTo>
                <a:lnTo>
                  <a:pt x="0" y="1790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951" r="0" b="-595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23205" y="7429704"/>
            <a:ext cx="14641589" cy="2068944"/>
          </a:xfrm>
          <a:custGeom>
            <a:avLst/>
            <a:gdLst/>
            <a:ahLst/>
            <a:cxnLst/>
            <a:rect r="r" b="b" t="t" l="l"/>
            <a:pathLst>
              <a:path h="2068944" w="14641589">
                <a:moveTo>
                  <a:pt x="0" y="0"/>
                </a:moveTo>
                <a:lnTo>
                  <a:pt x="14641590" y="0"/>
                </a:lnTo>
                <a:lnTo>
                  <a:pt x="14641590" y="2068944"/>
                </a:lnTo>
                <a:lnTo>
                  <a:pt x="0" y="20689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951" r="0" b="-595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698" y="693209"/>
            <a:ext cx="17424604" cy="8900582"/>
          </a:xfrm>
          <a:custGeom>
            <a:avLst/>
            <a:gdLst/>
            <a:ahLst/>
            <a:cxnLst/>
            <a:rect r="r" b="b" t="t" l="l"/>
            <a:pathLst>
              <a:path h="8900582" w="17424604">
                <a:moveTo>
                  <a:pt x="0" y="0"/>
                </a:moveTo>
                <a:lnTo>
                  <a:pt x="17424604" y="0"/>
                </a:lnTo>
                <a:lnTo>
                  <a:pt x="17424604" y="8900582"/>
                </a:lnTo>
                <a:lnTo>
                  <a:pt x="0" y="8900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45" t="-6065" r="-2545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01788" y="2492430"/>
            <a:ext cx="11301259" cy="6643502"/>
          </a:xfrm>
          <a:custGeom>
            <a:avLst/>
            <a:gdLst/>
            <a:ahLst/>
            <a:cxnLst/>
            <a:rect r="r" b="b" t="t" l="l"/>
            <a:pathLst>
              <a:path h="6643502" w="11301259">
                <a:moveTo>
                  <a:pt x="0" y="0"/>
                </a:moveTo>
                <a:lnTo>
                  <a:pt x="11301259" y="0"/>
                </a:lnTo>
                <a:lnTo>
                  <a:pt x="11301259" y="6643501"/>
                </a:lnTo>
                <a:lnTo>
                  <a:pt x="0" y="66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79" t="0" r="-30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7535109" cy="89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Missing Value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5675" y="2312911"/>
            <a:ext cx="5583011" cy="694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515" indent="-357258" lvl="1">
              <a:lnSpc>
                <a:spcPts val="4633"/>
              </a:lnSpc>
              <a:buFont typeface="Arial"/>
              <a:buChar char="•"/>
            </a:pPr>
            <a:r>
              <a:rPr lang="en-US" sz="330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Identified missing values across all columns before cleaning</a:t>
            </a:r>
          </a:p>
          <a:p>
            <a:pPr algn="l" marL="714515" indent="-357258" lvl="1">
              <a:lnSpc>
                <a:spcPts val="4633"/>
              </a:lnSpc>
              <a:buFont typeface="Arial"/>
              <a:buChar char="•"/>
            </a:pPr>
            <a:r>
              <a:rPr lang="en-US" sz="330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Columns with significant missing data: overview, genres, popularity</a:t>
            </a:r>
          </a:p>
          <a:p>
            <a:pPr algn="l" marL="714515" indent="-357258" lvl="1">
              <a:lnSpc>
                <a:spcPts val="4633"/>
              </a:lnSpc>
              <a:buFont typeface="Arial"/>
              <a:buChar char="•"/>
            </a:pPr>
            <a:r>
              <a:rPr lang="en-US" sz="330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Visualised distribution of missingness to prioritise cleaning steps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90301" y="2517271"/>
            <a:ext cx="8287969" cy="6653511"/>
          </a:xfrm>
          <a:custGeom>
            <a:avLst/>
            <a:gdLst/>
            <a:ahLst/>
            <a:cxnLst/>
            <a:rect r="r" b="b" t="t" l="l"/>
            <a:pathLst>
              <a:path h="6653511" w="8287969">
                <a:moveTo>
                  <a:pt x="0" y="0"/>
                </a:moveTo>
                <a:lnTo>
                  <a:pt x="8287968" y="0"/>
                </a:lnTo>
                <a:lnTo>
                  <a:pt x="8287968" y="6653510"/>
                </a:lnTo>
                <a:lnTo>
                  <a:pt x="0" y="6653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2" t="0" r="-2963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2217" y="1187938"/>
            <a:ext cx="7265239" cy="97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5"/>
              </a:lnSpc>
              <a:spcBef>
                <a:spcPct val="0"/>
              </a:spcBef>
            </a:pPr>
            <a:r>
              <a:rPr lang="en-US" sz="5682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Data Cleaning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2217" y="2691292"/>
            <a:ext cx="8865688" cy="587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667" indent="-360834" lvl="1">
              <a:lnSpc>
                <a:spcPts val="4679"/>
              </a:lnSpc>
              <a:buAutoNum type="arabicPeriod" startAt="1"/>
            </a:pPr>
            <a:r>
              <a:rPr lang="en-US" sz="3342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Removed rows with missing title, genre, or overview (nchar &gt; 10)</a:t>
            </a:r>
          </a:p>
          <a:p>
            <a:pPr algn="l" marL="721667" indent="-360834" lvl="1">
              <a:lnSpc>
                <a:spcPts val="4679"/>
              </a:lnSpc>
              <a:buAutoNum type="arabicPeriod" startAt="1"/>
            </a:pPr>
            <a:r>
              <a:rPr lang="en-US" sz="3342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Identified and removed non-numeric popularity values</a:t>
            </a:r>
          </a:p>
          <a:p>
            <a:pPr algn="l" marL="721667" indent="-360834" lvl="1">
              <a:lnSpc>
                <a:spcPts val="4679"/>
              </a:lnSpc>
              <a:buAutoNum type="arabicPeriod" startAt="1"/>
            </a:pPr>
            <a:r>
              <a:rPr lang="en-US" sz="3342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Filtered invalid ranges: vote_average 0–10, popularity ≥ 0</a:t>
            </a:r>
          </a:p>
          <a:p>
            <a:pPr algn="l" marL="721667" indent="-360834" lvl="1">
              <a:lnSpc>
                <a:spcPts val="4679"/>
              </a:lnSpc>
              <a:buAutoNum type="arabicPeriod" startAt="1"/>
            </a:pPr>
            <a:r>
              <a:rPr lang="en-US" sz="3342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Deduplicated by title — kept row with highest vote_count</a:t>
            </a:r>
          </a:p>
          <a:p>
            <a:pPr algn="l" marL="721667" indent="-360834" lvl="1">
              <a:lnSpc>
                <a:spcPts val="4679"/>
              </a:lnSpc>
              <a:buAutoNum type="arabicPeriod" startAt="1"/>
            </a:pPr>
            <a:r>
              <a:rPr lang="en-US" sz="3342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Raw 45,000 → cleaned dataset ready for modelling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75023"/>
            <a:ext cx="10144830" cy="815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2"/>
              </a:lnSpc>
              <a:spcBef>
                <a:spcPct val="0"/>
              </a:spcBef>
            </a:pPr>
            <a:r>
              <a:rPr lang="en-US" sz="6726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Data Preprocessing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92349" y="2886677"/>
            <a:ext cx="15466951" cy="531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Data preprocessing was performed to prepare the dataset for modeling.</a:t>
            </a:r>
          </a:p>
          <a:p>
            <a:pPr algn="l" marL="814094" indent="-407047" lvl="1">
              <a:lnSpc>
                <a:spcPts val="5278"/>
              </a:lnSpc>
              <a:buFont typeface="Arial"/>
              <a:buChar char="•"/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Handling missing values</a:t>
            </a:r>
          </a:p>
          <a:p>
            <a:pPr algn="l" marL="814094" indent="-407047" lvl="1">
              <a:lnSpc>
                <a:spcPts val="5278"/>
              </a:lnSpc>
              <a:buFont typeface="Arial"/>
              <a:buChar char="•"/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Cleaning and formatting text data</a:t>
            </a:r>
          </a:p>
          <a:p>
            <a:pPr algn="l" marL="814094" indent="-407047" lvl="1">
              <a:lnSpc>
                <a:spcPts val="5278"/>
              </a:lnSpc>
              <a:buFont typeface="Arial"/>
              <a:buChar char="•"/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Extracting genre information</a:t>
            </a:r>
          </a:p>
          <a:p>
            <a:pPr algn="l" marL="814094" indent="-407047" lvl="1">
              <a:lnSpc>
                <a:spcPts val="5278"/>
              </a:lnSpc>
              <a:buFont typeface="Arial"/>
              <a:buChar char="•"/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Creating content feature (genres + overview)</a:t>
            </a:r>
          </a:p>
          <a:p>
            <a:pPr algn="l">
              <a:lnSpc>
                <a:spcPts val="5278"/>
              </a:lnSpc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Raw Data → Clean Data → Feature Creation</a:t>
            </a:r>
          </a:p>
          <a:p>
            <a:pPr algn="l">
              <a:lnSpc>
                <a:spcPts val="527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9094" y="3099114"/>
            <a:ext cx="11301259" cy="6159186"/>
          </a:xfrm>
          <a:custGeom>
            <a:avLst/>
            <a:gdLst/>
            <a:ahLst/>
            <a:cxnLst/>
            <a:rect r="r" b="b" t="t" l="l"/>
            <a:pathLst>
              <a:path h="6159186" w="11301259">
                <a:moveTo>
                  <a:pt x="0" y="0"/>
                </a:moveTo>
                <a:lnTo>
                  <a:pt x="11301259" y="0"/>
                </a:lnTo>
                <a:lnTo>
                  <a:pt x="11301259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6797"/>
            <a:ext cx="6680359" cy="89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Feature Engineering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8139" y="3336654"/>
            <a:ext cx="5844329" cy="284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8041" indent="-349020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Scaled popularity, rating, votes</a:t>
            </a:r>
          </a:p>
          <a:p>
            <a:pPr algn="l" marL="698041" indent="-349020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Used log transform</a:t>
            </a:r>
          </a:p>
          <a:p>
            <a:pPr algn="l" marL="698041" indent="-349020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Created final_score</a:t>
            </a:r>
          </a:p>
          <a:p>
            <a:pPr algn="l" marL="698041" indent="-349020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Used for ranking movies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201177" y="923925"/>
            <a:ext cx="15123508" cy="97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8"/>
              </a:lnSpc>
              <a:spcBef>
                <a:spcPct val="0"/>
              </a:spcBef>
            </a:pPr>
            <a:r>
              <a:rPr lang="en-US" sz="5755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Exploratory Data Analysis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92439" y="2088941"/>
            <a:ext cx="12236838" cy="702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0"/>
              </a:lnSpc>
            </a:pPr>
            <a:r>
              <a:rPr lang="en-US" sz="43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Visualizations Used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</a:t>
            </a: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• </a:t>
            </a: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Ratings Distribution (Histogram)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Popularity Distribution (Boxplot)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Rating vs Popularity (Scatter Plot)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Genre Distribution (Bar Chart)</a:t>
            </a:r>
          </a:p>
          <a:p>
            <a:pPr algn="l">
              <a:lnSpc>
                <a:spcPts val="6070"/>
              </a:lnSpc>
            </a:pPr>
            <a:r>
              <a:rPr lang="en-US" sz="43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Observations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</a:t>
            </a: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• </a:t>
            </a: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Ratings mostly between 6–7 (normal distribution)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Popularity is highly skewed with few extreme values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Weak relation between rating &amp; popularity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Drama, Comedy, Thriller are most common genres</a:t>
            </a:r>
          </a:p>
          <a:p>
            <a:pPr algn="l">
              <a:lnSpc>
                <a:spcPts val="3727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168" y="156219"/>
            <a:ext cx="8673142" cy="4964435"/>
          </a:xfrm>
          <a:custGeom>
            <a:avLst/>
            <a:gdLst/>
            <a:ahLst/>
            <a:cxnLst/>
            <a:rect r="r" b="b" t="t" l="l"/>
            <a:pathLst>
              <a:path h="4964435" w="8673142">
                <a:moveTo>
                  <a:pt x="0" y="0"/>
                </a:moveTo>
                <a:lnTo>
                  <a:pt x="8673142" y="0"/>
                </a:lnTo>
                <a:lnTo>
                  <a:pt x="8673142" y="4964435"/>
                </a:lnTo>
                <a:lnTo>
                  <a:pt x="0" y="4964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9" r="0" b="-107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56219"/>
            <a:ext cx="8794608" cy="4964435"/>
          </a:xfrm>
          <a:custGeom>
            <a:avLst/>
            <a:gdLst/>
            <a:ahLst/>
            <a:cxnLst/>
            <a:rect r="r" b="b" t="t" l="l"/>
            <a:pathLst>
              <a:path h="4964435" w="8794608">
                <a:moveTo>
                  <a:pt x="0" y="0"/>
                </a:moveTo>
                <a:lnTo>
                  <a:pt x="8794608" y="0"/>
                </a:lnTo>
                <a:lnTo>
                  <a:pt x="8794608" y="4964435"/>
                </a:lnTo>
                <a:lnTo>
                  <a:pt x="0" y="49644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31" r="0" b="-89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5168" y="5316197"/>
            <a:ext cx="8673142" cy="4699387"/>
          </a:xfrm>
          <a:custGeom>
            <a:avLst/>
            <a:gdLst/>
            <a:ahLst/>
            <a:cxnLst/>
            <a:rect r="r" b="b" t="t" l="l"/>
            <a:pathLst>
              <a:path h="4699387" w="8673142">
                <a:moveTo>
                  <a:pt x="0" y="0"/>
                </a:moveTo>
                <a:lnTo>
                  <a:pt x="8673142" y="0"/>
                </a:lnTo>
                <a:lnTo>
                  <a:pt x="8673142" y="4699387"/>
                </a:lnTo>
                <a:lnTo>
                  <a:pt x="0" y="4699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84" r="0" b="-98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27732" y="5316197"/>
            <a:ext cx="8822577" cy="4699387"/>
          </a:xfrm>
          <a:custGeom>
            <a:avLst/>
            <a:gdLst/>
            <a:ahLst/>
            <a:cxnLst/>
            <a:rect r="r" b="b" t="t" l="l"/>
            <a:pathLst>
              <a:path h="4699387" w="8822577">
                <a:moveTo>
                  <a:pt x="0" y="0"/>
                </a:moveTo>
                <a:lnTo>
                  <a:pt x="8822577" y="0"/>
                </a:lnTo>
                <a:lnTo>
                  <a:pt x="8822577" y="4699387"/>
                </a:lnTo>
                <a:lnTo>
                  <a:pt x="0" y="469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153" r="0" b="-3153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931519" y="933450"/>
            <a:ext cx="12366016" cy="86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6"/>
              </a:lnSpc>
              <a:spcBef>
                <a:spcPct val="0"/>
              </a:spcBef>
            </a:pPr>
            <a:r>
              <a:rPr lang="en-US" sz="5133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Text Preprocessing Pipeline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84812"/>
            <a:ext cx="16547078" cy="691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Pipeline</a:t>
            </a:r>
          </a:p>
          <a:p>
            <a:pPr algn="l" marL="1267559" indent="-422520" lvl="2">
              <a:lnSpc>
                <a:spcPts val="4109"/>
              </a:lnSpc>
              <a:buFont typeface="Arial"/>
              <a:buChar char="⚬"/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Raw Text → Lowercase → Remove Punctuation/Numbers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  </a:t>
            </a: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     → Remove Stop Words → Remove Noise Words → Strip Whitespace → Corpus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Content Used</a:t>
            </a:r>
          </a:p>
          <a:p>
            <a:pPr algn="l" marL="1267559" indent="-422520" lvl="2">
              <a:lnSpc>
                <a:spcPts val="4109"/>
              </a:lnSpc>
              <a:buFont typeface="Arial"/>
              <a:buChar char="⚬"/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Combined: genres, keywords, tagline, overview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          Genres repeated twice to increase importance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Noise Words Removed</a:t>
            </a:r>
          </a:p>
          <a:p>
            <a:pPr algn="l" marL="1267559" indent="-422520" lvl="2">
              <a:lnSpc>
                <a:spcPts val="4109"/>
              </a:lnSpc>
              <a:buFont typeface="Arial"/>
              <a:buChar char="⚬"/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film, movie, story, life, world</a:t>
            </a:r>
          </a:p>
          <a:p>
            <a:pPr algn="l" marL="1267559" indent="-422520" lvl="2">
              <a:lnSpc>
                <a:spcPts val="4109"/>
              </a:lnSpc>
              <a:buFont typeface="Arial"/>
              <a:buChar char="⚬"/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man, woman, one, two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         find, must, new, will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Result</a:t>
            </a:r>
          </a:p>
          <a:p>
            <a:pPr algn="l" marL="1267559" indent="-422520" lvl="2">
              <a:lnSpc>
                <a:spcPts val="4109"/>
              </a:lnSpc>
              <a:buFont typeface="Arial"/>
              <a:buChar char="⚬"/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Clean text data ready for TF-IDF</a:t>
            </a:r>
          </a:p>
          <a:p>
            <a:pPr algn="l">
              <a:lnSpc>
                <a:spcPts val="396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4755" y="498099"/>
            <a:ext cx="14458490" cy="9290803"/>
          </a:xfrm>
          <a:custGeom>
            <a:avLst/>
            <a:gdLst/>
            <a:ahLst/>
            <a:cxnLst/>
            <a:rect r="r" b="b" t="t" l="l"/>
            <a:pathLst>
              <a:path h="9290803" w="14458490">
                <a:moveTo>
                  <a:pt x="0" y="0"/>
                </a:moveTo>
                <a:lnTo>
                  <a:pt x="14458490" y="0"/>
                </a:lnTo>
                <a:lnTo>
                  <a:pt x="14458490" y="9290802"/>
                </a:lnTo>
                <a:lnTo>
                  <a:pt x="0" y="9290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" r="-7539" b="-2337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9524" y="3763791"/>
            <a:ext cx="9436813" cy="5757499"/>
          </a:xfrm>
          <a:custGeom>
            <a:avLst/>
            <a:gdLst/>
            <a:ahLst/>
            <a:cxnLst/>
            <a:rect r="r" b="b" t="t" l="l"/>
            <a:pathLst>
              <a:path h="5757499" w="9436813">
                <a:moveTo>
                  <a:pt x="0" y="0"/>
                </a:moveTo>
                <a:lnTo>
                  <a:pt x="9436813" y="0"/>
                </a:lnTo>
                <a:lnTo>
                  <a:pt x="9436813" y="5757499"/>
                </a:lnTo>
                <a:lnTo>
                  <a:pt x="0" y="575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7" r="0" b="-15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6979" y="1943874"/>
            <a:ext cx="13356360" cy="323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8"/>
              </a:lnSpc>
              <a:spcBef>
                <a:spcPct val="0"/>
              </a:spcBef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TF-IDF = Term Frequency × Inverse Document Frequency</a:t>
            </a:r>
          </a:p>
          <a:p>
            <a:pPr algn="l">
              <a:lnSpc>
                <a:spcPts val="4278"/>
              </a:lnSpc>
              <a:spcBef>
                <a:spcPct val="0"/>
              </a:spcBef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Gives higher weight to words frequent in one movie but rare  overall</a:t>
            </a:r>
          </a:p>
          <a:p>
            <a:pPr algn="l">
              <a:lnSpc>
                <a:spcPts val="4278"/>
              </a:lnSpc>
              <a:spcBef>
                <a:spcPct val="0"/>
              </a:spcBef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Parameters: minimum 2 documents per term, word length ≥ 3</a:t>
            </a:r>
          </a:p>
          <a:p>
            <a:pPr algn="l">
              <a:lnSpc>
                <a:spcPts val="4278"/>
              </a:lnSpc>
              <a:spcBef>
                <a:spcPct val="0"/>
              </a:spcBef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Result: sparse matrix (3000 × 8037)</a:t>
            </a:r>
          </a:p>
          <a:p>
            <a:pPr algn="l">
              <a:lnSpc>
                <a:spcPts val="4278"/>
              </a:lnSpc>
              <a:spcBef>
                <a:spcPct val="0"/>
              </a:spcBef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Each row represents a movie as</a:t>
            </a:r>
          </a:p>
          <a:p>
            <a:pPr algn="l">
              <a:lnSpc>
                <a:spcPts val="4278"/>
              </a:lnSpc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   a weighted term vector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952500"/>
            <a:ext cx="7660039" cy="7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TF-IDF Vectorisation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698151"/>
            <a:ext cx="8615302" cy="5847636"/>
          </a:xfrm>
          <a:custGeom>
            <a:avLst/>
            <a:gdLst/>
            <a:ahLst/>
            <a:cxnLst/>
            <a:rect r="r" b="b" t="t" l="l"/>
            <a:pathLst>
              <a:path h="5847636" w="8615302">
                <a:moveTo>
                  <a:pt x="0" y="0"/>
                </a:moveTo>
                <a:lnTo>
                  <a:pt x="8615302" y="0"/>
                </a:lnTo>
                <a:lnTo>
                  <a:pt x="8615302" y="5847637"/>
                </a:lnTo>
                <a:lnTo>
                  <a:pt x="0" y="5847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08156"/>
            <a:ext cx="7114818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Cosine Similarity Matrix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713" y="2889116"/>
            <a:ext cx="8645287" cy="540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1671" indent="-33083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TF-IDF matrix normalised (L2 norm per row)</a:t>
            </a:r>
          </a:p>
          <a:p>
            <a:pPr algn="l" marL="661671" indent="-33083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Cosine similarity = dot product of two normalised vectors</a:t>
            </a:r>
          </a:p>
          <a:p>
            <a:pPr algn="l" marL="661671" indent="-33083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Result: 3,000 × 3,000 pairwise similarity matrix</a:t>
            </a:r>
          </a:p>
          <a:p>
            <a:pPr algn="l" marL="661671" indent="-33083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Value of 1 = identical content, 0 = no overlap</a:t>
            </a:r>
          </a:p>
          <a:p>
            <a:pPr algn="l" marL="661671" indent="-33083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Matrix computed as: tfidf_norm %*% t(tfidf_norm)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7579" y="4543943"/>
            <a:ext cx="11301259" cy="791088"/>
          </a:xfrm>
          <a:custGeom>
            <a:avLst/>
            <a:gdLst/>
            <a:ahLst/>
            <a:cxnLst/>
            <a:rect r="r" b="b" t="t" l="l"/>
            <a:pathLst>
              <a:path h="791088" w="11301259">
                <a:moveTo>
                  <a:pt x="0" y="0"/>
                </a:moveTo>
                <a:lnTo>
                  <a:pt x="11301259" y="0"/>
                </a:lnTo>
                <a:lnTo>
                  <a:pt x="11301259" y="791088"/>
                </a:lnTo>
                <a:lnTo>
                  <a:pt x="0" y="791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77579" y="5544581"/>
            <a:ext cx="11301259" cy="2330885"/>
          </a:xfrm>
          <a:custGeom>
            <a:avLst/>
            <a:gdLst/>
            <a:ahLst/>
            <a:cxnLst/>
            <a:rect r="r" b="b" t="t" l="l"/>
            <a:pathLst>
              <a:path h="2330885" w="11301259">
                <a:moveTo>
                  <a:pt x="0" y="0"/>
                </a:moveTo>
                <a:lnTo>
                  <a:pt x="11301259" y="0"/>
                </a:lnTo>
                <a:lnTo>
                  <a:pt x="11301259" y="2330884"/>
                </a:lnTo>
                <a:lnTo>
                  <a:pt x="0" y="2330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77579" y="8085015"/>
            <a:ext cx="11301259" cy="1370278"/>
          </a:xfrm>
          <a:custGeom>
            <a:avLst/>
            <a:gdLst/>
            <a:ahLst/>
            <a:cxnLst/>
            <a:rect r="r" b="b" t="t" l="l"/>
            <a:pathLst>
              <a:path h="1370278" w="11301259">
                <a:moveTo>
                  <a:pt x="0" y="0"/>
                </a:moveTo>
                <a:lnTo>
                  <a:pt x="11301259" y="0"/>
                </a:lnTo>
                <a:lnTo>
                  <a:pt x="11301259" y="1370278"/>
                </a:lnTo>
                <a:lnTo>
                  <a:pt x="0" y="1370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92935"/>
            <a:ext cx="4862870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Hybrid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27876" y="2055199"/>
            <a:ext cx="6725842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Signal                                               Weight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----------------------------------------------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Cosine similarity (TF-IDF content)     55%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Jaccard genre similarity                     40%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Normalised final score (quality)        5%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6641590"/>
            <a:ext cx="11301259" cy="2412628"/>
          </a:xfrm>
          <a:custGeom>
            <a:avLst/>
            <a:gdLst/>
            <a:ahLst/>
            <a:cxnLst/>
            <a:rect r="r" b="b" t="t" l="l"/>
            <a:pathLst>
              <a:path h="2412628" w="11301259">
                <a:moveTo>
                  <a:pt x="0" y="0"/>
                </a:moveTo>
                <a:lnTo>
                  <a:pt x="11301258" y="0"/>
                </a:lnTo>
                <a:lnTo>
                  <a:pt x="11301258" y="2412628"/>
                </a:lnTo>
                <a:lnTo>
                  <a:pt x="0" y="2412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5058681"/>
            <a:ext cx="11301259" cy="1087797"/>
          </a:xfrm>
          <a:custGeom>
            <a:avLst/>
            <a:gdLst/>
            <a:ahLst/>
            <a:cxnLst/>
            <a:rect r="r" b="b" t="t" l="l"/>
            <a:pathLst>
              <a:path h="1087797" w="11301259">
                <a:moveTo>
                  <a:pt x="0" y="0"/>
                </a:moveTo>
                <a:lnTo>
                  <a:pt x="11301258" y="0"/>
                </a:lnTo>
                <a:lnTo>
                  <a:pt x="11301258" y="1087797"/>
                </a:lnTo>
                <a:lnTo>
                  <a:pt x="0" y="1087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99" t="0" r="-579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8462657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Rating-Based Personalisation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93371" y="2376208"/>
            <a:ext cx="10536991" cy="211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• User rates movies (1–5 stars)</a:t>
            </a:r>
          </a:p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System builds user profile from liked movies</a:t>
            </a:r>
          </a:p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profile = Σ (rating/5) × similarity</a:t>
            </a:r>
          </a:p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Recommends movies based on user preferences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8029" y="2789004"/>
            <a:ext cx="7139777" cy="5419329"/>
          </a:xfrm>
          <a:custGeom>
            <a:avLst/>
            <a:gdLst/>
            <a:ahLst/>
            <a:cxnLst/>
            <a:rect r="r" b="b" t="t" l="l"/>
            <a:pathLst>
              <a:path h="5419329" w="7139777">
                <a:moveTo>
                  <a:pt x="0" y="0"/>
                </a:moveTo>
                <a:lnTo>
                  <a:pt x="7139776" y="0"/>
                </a:lnTo>
                <a:lnTo>
                  <a:pt x="7139776" y="5419329"/>
                </a:lnTo>
                <a:lnTo>
                  <a:pt x="0" y="5419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7513" b="-9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9473" y="1287146"/>
            <a:ext cx="443103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Model Evaluation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99397" y="2277207"/>
            <a:ext cx="10588603" cy="636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• Genre is the strongest signal for   recommendations</a:t>
            </a:r>
          </a:p>
          <a:p>
            <a:pPr algn="l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Popularity is highly skewed → log transform is needed</a:t>
            </a:r>
          </a:p>
          <a:p>
            <a:pPr algn="l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TF-IDF (min 2 terms) gives better results than stricter limits</a:t>
            </a:r>
          </a:p>
          <a:p>
            <a:pPr algn="l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Fixing genre parsing improved recommendation accuracy</a:t>
            </a:r>
          </a:p>
          <a:p>
            <a:pPr algn="l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Similarity matrix is sparse → movies share less common words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33349" y="1313181"/>
            <a:ext cx="3215402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Key Findings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3093" y="2505410"/>
            <a:ext cx="8082045" cy="5898029"/>
          </a:xfrm>
          <a:custGeom>
            <a:avLst/>
            <a:gdLst/>
            <a:ahLst/>
            <a:cxnLst/>
            <a:rect r="r" b="b" t="t" l="l"/>
            <a:pathLst>
              <a:path h="5898029" w="8082045">
                <a:moveTo>
                  <a:pt x="0" y="0"/>
                </a:moveTo>
                <a:lnTo>
                  <a:pt x="8082044" y="0"/>
                </a:lnTo>
                <a:lnTo>
                  <a:pt x="8082044" y="5898029"/>
                </a:lnTo>
                <a:lnTo>
                  <a:pt x="0" y="589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47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37600" y="2505410"/>
            <a:ext cx="7521700" cy="5898029"/>
          </a:xfrm>
          <a:custGeom>
            <a:avLst/>
            <a:gdLst/>
            <a:ahLst/>
            <a:cxnLst/>
            <a:rect r="r" b="b" t="t" l="l"/>
            <a:pathLst>
              <a:path h="5898029" w="7521700">
                <a:moveTo>
                  <a:pt x="0" y="0"/>
                </a:moveTo>
                <a:lnTo>
                  <a:pt x="7521700" y="0"/>
                </a:lnTo>
                <a:lnTo>
                  <a:pt x="7521700" y="5898029"/>
                </a:lnTo>
                <a:lnTo>
                  <a:pt x="0" y="5898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83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3621167" cy="89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App 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9564" y="8878570"/>
            <a:ext cx="5800606" cy="37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Recommendations for the selected movie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56806" y="8878570"/>
            <a:ext cx="5096709" cy="37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Recommendations based on ratings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2694" y="4179329"/>
            <a:ext cx="2472214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Github Link: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39992" y="4202824"/>
            <a:ext cx="13408303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u="sng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  <a:hlinkClick r:id="rId2" tooltip="https://github.com/idsaturn07/movie_recommendation_system_Team7"/>
              </a:rPr>
              <a:t>https://github.com/idsaturn07/movie_recommendation_system_Team7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91185" y="5029200"/>
            <a:ext cx="6257647" cy="101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DAHFU3EHJ2g</dc:identifier>
  <dcterms:modified xsi:type="dcterms:W3CDTF">2011-08-01T06:04:30Z</dcterms:modified>
  <cp:revision>1</cp:revision>
  <dc:title>Movie Recommendation System</dc:title>
</cp:coreProperties>
</file>